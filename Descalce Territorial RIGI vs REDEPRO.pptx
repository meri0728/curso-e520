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</p:sldIdLst>
  <p:sldSz cy="6858000" cx="12192000"/>
  <p:notesSz cx="6858000" cy="9144000"/>
  <p:embeddedFontLst>
    <p:embeddedFont>
      <p:font typeface="Poppins"/>
      <p:regular r:id="rId9"/>
      <p:bold r:id="rId10"/>
      <p:italic r:id="rId11"/>
      <p:boldItalic r:id="rId12"/>
    </p:embeddedFont>
    <p:embeddedFont>
      <p:font typeface="Lato"/>
      <p:regular r:id="rId13"/>
      <p:bold r:id="rId14"/>
      <p:italic r:id="rId15"/>
      <p:boldItalic r:id="rId16"/>
    </p:embeddedFont>
    <p:embeddedFont>
      <p:font typeface="Lato Light"/>
      <p:regular r:id="rId17"/>
      <p:bold r:id="rId18"/>
      <p:italic r:id="rId19"/>
      <p:boldItalic r:id="rId20"/>
    </p:embeddedFont>
    <p:embeddedFont>
      <p:font typeface="Poppins SemiBold"/>
      <p:regular r:id="rId21"/>
      <p:bold r:id="rId22"/>
      <p:italic r:id="rId23"/>
      <p:boldItalic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LatoLight-boldItalic.fntdata"/><Relationship Id="rId11" Type="http://schemas.openxmlformats.org/officeDocument/2006/relationships/font" Target="fonts/Poppins-italic.fntdata"/><Relationship Id="rId22" Type="http://schemas.openxmlformats.org/officeDocument/2006/relationships/font" Target="fonts/PoppinsSemiBold-bold.fntdata"/><Relationship Id="rId10" Type="http://schemas.openxmlformats.org/officeDocument/2006/relationships/font" Target="fonts/Poppins-bold.fntdata"/><Relationship Id="rId21" Type="http://schemas.openxmlformats.org/officeDocument/2006/relationships/font" Target="fonts/PoppinsSemiBold-regular.fntdata"/><Relationship Id="rId13" Type="http://schemas.openxmlformats.org/officeDocument/2006/relationships/font" Target="fonts/Lato-regular.fntdata"/><Relationship Id="rId24" Type="http://schemas.openxmlformats.org/officeDocument/2006/relationships/font" Target="fonts/PoppinsSemiBold-boldItalic.fntdata"/><Relationship Id="rId12" Type="http://schemas.openxmlformats.org/officeDocument/2006/relationships/font" Target="fonts/Poppins-boldItalic.fntdata"/><Relationship Id="rId23" Type="http://schemas.openxmlformats.org/officeDocument/2006/relationships/font" Target="fonts/PoppinsSemiBold-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font" Target="fonts/Poppins-regular.fntdata"/><Relationship Id="rId15" Type="http://schemas.openxmlformats.org/officeDocument/2006/relationships/font" Target="fonts/Lato-italic.fntdata"/><Relationship Id="rId14" Type="http://schemas.openxmlformats.org/officeDocument/2006/relationships/font" Target="fonts/Lato-bold.fntdata"/><Relationship Id="rId17" Type="http://schemas.openxmlformats.org/officeDocument/2006/relationships/font" Target="fonts/LatoLight-regular.fntdata"/><Relationship Id="rId16" Type="http://schemas.openxmlformats.org/officeDocument/2006/relationships/font" Target="fonts/Lato-boldItalic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LatoLight-italic.fntdata"/><Relationship Id="rId6" Type="http://schemas.openxmlformats.org/officeDocument/2006/relationships/slide" Target="slides/slide1.xml"/><Relationship Id="rId18" Type="http://schemas.openxmlformats.org/officeDocument/2006/relationships/font" Target="fonts/LatoLight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f8d68501d1_8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g3f8d68501d1_8_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f8d68501d1_8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g3f8d68501d1_8_2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0.png"/><Relationship Id="rId4" Type="http://schemas.openxmlformats.org/officeDocument/2006/relationships/image" Target="../media/image12.png"/><Relationship Id="rId5" Type="http://schemas.openxmlformats.org/officeDocument/2006/relationships/image" Target="../media/image4.png"/><Relationship Id="rId6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1" Type="http://schemas.openxmlformats.org/officeDocument/2006/relationships/image" Target="../media/image11.png"/><Relationship Id="rId10" Type="http://schemas.openxmlformats.org/officeDocument/2006/relationships/image" Target="../media/image9.png"/><Relationship Id="rId13" Type="http://schemas.openxmlformats.org/officeDocument/2006/relationships/image" Target="../media/image19.png"/><Relationship Id="rId12" Type="http://schemas.openxmlformats.org/officeDocument/2006/relationships/image" Target="../media/image15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8.png"/><Relationship Id="rId9" Type="http://schemas.openxmlformats.org/officeDocument/2006/relationships/image" Target="../media/image6.png"/><Relationship Id="rId15" Type="http://schemas.openxmlformats.org/officeDocument/2006/relationships/image" Target="../media/image25.png"/><Relationship Id="rId14" Type="http://schemas.openxmlformats.org/officeDocument/2006/relationships/image" Target="../media/image13.png"/><Relationship Id="rId17" Type="http://schemas.openxmlformats.org/officeDocument/2006/relationships/image" Target="../media/image17.png"/><Relationship Id="rId16" Type="http://schemas.openxmlformats.org/officeDocument/2006/relationships/image" Target="../media/image22.png"/><Relationship Id="rId5" Type="http://schemas.openxmlformats.org/officeDocument/2006/relationships/image" Target="../media/image7.png"/><Relationship Id="rId6" Type="http://schemas.openxmlformats.org/officeDocument/2006/relationships/image" Target="../media/image5.png"/><Relationship Id="rId7" Type="http://schemas.openxmlformats.org/officeDocument/2006/relationships/image" Target="../media/image16.png"/><Relationship Id="rId8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1" Type="http://schemas.openxmlformats.org/officeDocument/2006/relationships/image" Target="../media/image26.png"/><Relationship Id="rId10" Type="http://schemas.openxmlformats.org/officeDocument/2006/relationships/image" Target="../media/image14.png"/><Relationship Id="rId13" Type="http://schemas.openxmlformats.org/officeDocument/2006/relationships/image" Target="../media/image18.png"/><Relationship Id="rId12" Type="http://schemas.openxmlformats.org/officeDocument/2006/relationships/image" Target="../media/image29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0.png"/><Relationship Id="rId4" Type="http://schemas.openxmlformats.org/officeDocument/2006/relationships/image" Target="../media/image20.png"/><Relationship Id="rId9" Type="http://schemas.openxmlformats.org/officeDocument/2006/relationships/image" Target="../media/image21.png"/><Relationship Id="rId14" Type="http://schemas.openxmlformats.org/officeDocument/2006/relationships/image" Target="../media/image24.png"/><Relationship Id="rId5" Type="http://schemas.openxmlformats.org/officeDocument/2006/relationships/image" Target="../media/image17.png"/><Relationship Id="rId6" Type="http://schemas.openxmlformats.org/officeDocument/2006/relationships/image" Target="../media/image23.png"/><Relationship Id="rId7" Type="http://schemas.openxmlformats.org/officeDocument/2006/relationships/image" Target="../media/image27.png"/><Relationship Id="rId8" Type="http://schemas.openxmlformats.org/officeDocument/2006/relationships/image" Target="../media/image2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5" name="Google Shape;8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4056950"/>
            <a:ext cx="10668000" cy="1451325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762000" y="1597213"/>
            <a:ext cx="9331200" cy="124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498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75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Grandes Proyectos (RIGI) y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375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Proveedores Estratégicos (REDEPRO)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762000" y="3184813"/>
            <a:ext cx="8382000" cy="60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75" u="none" cap="none" strike="noStrike">
                <a:solidFill>
                  <a:srgbClr val="94A3B8"/>
                </a:solidFill>
                <a:latin typeface="Lato Light"/>
                <a:ea typeface="Lato Light"/>
                <a:cs typeface="Lato Light"/>
                <a:sym typeface="Lato Light"/>
              </a:rPr>
              <a:t>Análisis del marco normativo de incentivos a las grandes inversiones y la integración del desarrollo de proveedores nacionales.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762000" y="4373800"/>
            <a:ext cx="10668000" cy="1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2DD4BF"/>
                </a:solidFill>
                <a:latin typeface="Lato"/>
                <a:ea typeface="Lato"/>
                <a:cs typeface="Lato"/>
                <a:sym typeface="Lato"/>
              </a:rPr>
              <a:t>EQUIPO DE TRABAJO / INTEGRANTES: </a:t>
            </a:r>
            <a:endParaRPr/>
          </a:p>
        </p:txBody>
      </p:sp>
      <p:pic>
        <p:nvPicPr>
          <p:cNvPr descr="image.png" id="89" name="Google Shape;89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38425" y="5117125"/>
            <a:ext cx="19050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3"/>
          <p:cNvSpPr txBox="1"/>
          <p:nvPr/>
        </p:nvSpPr>
        <p:spPr>
          <a:xfrm>
            <a:off x="1100125" y="5106775"/>
            <a:ext cx="924000" cy="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8FAFC"/>
                </a:solidFill>
                <a:latin typeface="Lato"/>
                <a:ea typeface="Lato"/>
                <a:cs typeface="Lato"/>
                <a:sym typeface="Lato"/>
              </a:rPr>
              <a:t>Lucía Pautassi</a:t>
            </a:r>
            <a:endParaRPr/>
          </a:p>
        </p:txBody>
      </p:sp>
      <p:pic>
        <p:nvPicPr>
          <p:cNvPr descr="image.png" id="91" name="Google Shape;91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403100" y="5117125"/>
            <a:ext cx="19050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3"/>
          <p:cNvSpPr txBox="1"/>
          <p:nvPr/>
        </p:nvSpPr>
        <p:spPr>
          <a:xfrm>
            <a:off x="2666025" y="5106775"/>
            <a:ext cx="933300" cy="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8FAFC"/>
                </a:solidFill>
                <a:latin typeface="Lato"/>
                <a:ea typeface="Lato"/>
                <a:cs typeface="Lato"/>
                <a:sym typeface="Lato"/>
              </a:rPr>
              <a:t>Meri Cristaldo</a:t>
            </a:r>
            <a:endParaRPr/>
          </a:p>
        </p:txBody>
      </p:sp>
      <p:pic>
        <p:nvPicPr>
          <p:cNvPr descr="image.png" id="93" name="Google Shape;93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005263" y="5117125"/>
            <a:ext cx="19050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3"/>
          <p:cNvSpPr txBox="1"/>
          <p:nvPr/>
        </p:nvSpPr>
        <p:spPr>
          <a:xfrm>
            <a:off x="4286250" y="5106775"/>
            <a:ext cx="942900" cy="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8FAFC"/>
                </a:solidFill>
                <a:latin typeface="Lato"/>
                <a:ea typeface="Lato"/>
                <a:cs typeface="Lato"/>
                <a:sym typeface="Lato"/>
              </a:rPr>
              <a:t>Pedro Coronel</a:t>
            </a:r>
            <a:endParaRPr/>
          </a:p>
        </p:txBody>
      </p:sp>
      <p:pic>
        <p:nvPicPr>
          <p:cNvPr descr="image.png" id="95" name="Google Shape;95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607450" y="5117125"/>
            <a:ext cx="19050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3"/>
          <p:cNvSpPr txBox="1"/>
          <p:nvPr/>
        </p:nvSpPr>
        <p:spPr>
          <a:xfrm flipH="1">
            <a:off x="5856025" y="5106783"/>
            <a:ext cx="828600" cy="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8FAFC"/>
                </a:solidFill>
                <a:latin typeface="Lato"/>
                <a:ea typeface="Lato"/>
                <a:cs typeface="Lato"/>
                <a:sym typeface="Lato"/>
              </a:rPr>
              <a:t>Xavier López</a:t>
            </a:r>
            <a:endParaRPr/>
          </a:p>
        </p:txBody>
      </p:sp>
      <p:pic>
        <p:nvPicPr>
          <p:cNvPr descr="image.png" id="97" name="Google Shape;97;p1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62012" y="1123401"/>
            <a:ext cx="2867025" cy="285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2" name="Google Shape;102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4575" y="0"/>
            <a:ext cx="12476198" cy="706559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3" name="Google Shape;103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05900" y="2619875"/>
            <a:ext cx="3611025" cy="157708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4" name="Google Shape;104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05900" y="4436825"/>
            <a:ext cx="3611025" cy="1770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5" name="Google Shape;105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43768" y="2618600"/>
            <a:ext cx="3611057" cy="1577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6" name="Google Shape;106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43825" y="4436875"/>
            <a:ext cx="3611000" cy="1770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7" name="Google Shape;107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0813" y="384225"/>
            <a:ext cx="3048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14"/>
          <p:cNvSpPr txBox="1"/>
          <p:nvPr/>
        </p:nvSpPr>
        <p:spPr>
          <a:xfrm>
            <a:off x="1028725" y="492400"/>
            <a:ext cx="8531700" cy="21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75" u="none" cap="none" strike="noStrike">
                <a:solidFill>
                  <a:srgbClr val="5EEAD4"/>
                </a:solidFill>
                <a:latin typeface="Poppins"/>
                <a:ea typeface="Poppins"/>
                <a:cs typeface="Poppins"/>
                <a:sym typeface="Poppins"/>
              </a:rPr>
              <a:t>PREGUNTA CENTRAL DE INVESTIGACIÓN</a:t>
            </a:r>
            <a:r>
              <a:rPr b="1" lang="en-US" sz="1375">
                <a:solidFill>
                  <a:srgbClr val="5EEAD4"/>
                </a:solidFill>
                <a:latin typeface="Poppins"/>
                <a:ea typeface="Poppins"/>
                <a:cs typeface="Poppins"/>
                <a:sym typeface="Poppins"/>
              </a:rPr>
              <a:t> Y </a:t>
            </a:r>
            <a:r>
              <a:rPr b="1" lang="en-US" sz="1375">
                <a:solidFill>
                  <a:srgbClr val="5EEAD4"/>
                </a:solidFill>
                <a:latin typeface="Poppins"/>
                <a:ea typeface="Poppins"/>
                <a:cs typeface="Poppins"/>
                <a:sym typeface="Poppins"/>
              </a:rPr>
              <a:t>METODOLOGÍA</a:t>
            </a:r>
            <a:endParaRPr sz="2175"/>
          </a:p>
        </p:txBody>
      </p:sp>
      <p:sp>
        <p:nvSpPr>
          <p:cNvPr id="109" name="Google Shape;109;p14"/>
          <p:cNvSpPr txBox="1"/>
          <p:nvPr/>
        </p:nvSpPr>
        <p:spPr>
          <a:xfrm>
            <a:off x="772200" y="1025925"/>
            <a:ext cx="10647600" cy="69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49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25" u="none" cap="none" strike="noStrike">
                <a:solidFill>
                  <a:srgbClr val="F1F5F9"/>
                </a:solidFill>
                <a:latin typeface="Lato"/>
                <a:ea typeface="Lato"/>
                <a:cs typeface="Lato"/>
                <a:sym typeface="Lato"/>
              </a:rPr>
              <a:t>¿</a:t>
            </a:r>
            <a:r>
              <a:rPr b="1" i="0" lang="en-US" sz="1925" u="none" cap="none" strike="noStrike">
                <a:solidFill>
                  <a:srgbClr val="F1F5F9"/>
                </a:solidFill>
                <a:latin typeface="Lato"/>
                <a:ea typeface="Lato"/>
                <a:cs typeface="Lato"/>
                <a:sym typeface="Lato"/>
              </a:rPr>
              <a:t>Existe un descalce territorial entre la localización de la demanda de inversión impulsada por el RIGI y la oferta de proveedores estratégicos registrados en el REDEPRO?</a:t>
            </a:r>
            <a:endParaRPr b="1" sz="2200"/>
          </a:p>
        </p:txBody>
      </p:sp>
      <p:pic>
        <p:nvPicPr>
          <p:cNvPr descr="image.png" id="110" name="Google Shape;110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62012" y="2817952"/>
            <a:ext cx="209550" cy="209550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4"/>
          <p:cNvSpPr txBox="1"/>
          <p:nvPr/>
        </p:nvSpPr>
        <p:spPr>
          <a:xfrm>
            <a:off x="885600" y="2832414"/>
            <a:ext cx="22194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Tratamiento Territorial</a:t>
            </a:r>
            <a:endParaRPr sz="1600"/>
          </a:p>
        </p:txBody>
      </p:sp>
      <p:sp>
        <p:nvSpPr>
          <p:cNvPr id="112" name="Google Shape;112;p14"/>
          <p:cNvSpPr txBox="1"/>
          <p:nvPr/>
        </p:nvSpPr>
        <p:spPr>
          <a:xfrm>
            <a:off x="609250" y="3278700"/>
            <a:ext cx="3209400" cy="7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799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37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Limpieza de proyectos multijurisdiccionales. Desagregación provincial mediante                           y normalización de nombres con                           .</a:t>
            </a:r>
            <a:endParaRPr sz="1700"/>
          </a:p>
        </p:txBody>
      </p:sp>
      <p:pic>
        <p:nvPicPr>
          <p:cNvPr descr="image.png" id="113" name="Google Shape;113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753000" y="2817952"/>
            <a:ext cx="209550" cy="20955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4"/>
          <p:cNvSpPr txBox="1"/>
          <p:nvPr/>
        </p:nvSpPr>
        <p:spPr>
          <a:xfrm>
            <a:off x="929862" y="4712215"/>
            <a:ext cx="24453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Ar</a:t>
            </a:r>
            <a:r>
              <a:rPr b="0" i="0" lang="en-US" sz="1250" u="none" cap="none" strike="noStrike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monización Sectorial</a:t>
            </a:r>
            <a:endParaRPr sz="1600"/>
          </a:p>
        </p:txBody>
      </p:sp>
      <p:sp>
        <p:nvSpPr>
          <p:cNvPr id="115" name="Google Shape;115;p14"/>
          <p:cNvSpPr txBox="1"/>
          <p:nvPr/>
        </p:nvSpPr>
        <p:spPr>
          <a:xfrm>
            <a:off x="693300" y="5094900"/>
            <a:ext cx="2918400" cy="97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799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37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Mapeo entre rubros RIGI (Minería, </a:t>
            </a:r>
            <a:r>
              <a:rPr lang="en-US" sz="1237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Petroleo y Gas</a:t>
            </a:r>
            <a:r>
              <a:rPr b="0" i="0" lang="en-US" sz="1237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, Energía, </a:t>
            </a:r>
            <a:r>
              <a:rPr lang="en-US" sz="1237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S</a:t>
            </a:r>
            <a:r>
              <a:rPr b="0" i="0" lang="en-US" sz="1237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iderurgia, </a:t>
            </a:r>
            <a:r>
              <a:rPr lang="en-US" sz="1237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I</a:t>
            </a:r>
            <a:r>
              <a:rPr b="0" i="0" lang="en-US" sz="1237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nfraestructura) y clasificaciones</a:t>
            </a:r>
            <a:r>
              <a:rPr lang="en-US" sz="1237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b="0" i="0" lang="en-US" sz="1237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REDEPRO mediante                              </a:t>
            </a:r>
            <a:r>
              <a:rPr lang="en-US" sz="1237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b="0" i="0" lang="en-US" sz="1237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e             .</a:t>
            </a:r>
            <a:endParaRPr sz="1700"/>
          </a:p>
        </p:txBody>
      </p:sp>
      <p:pic>
        <p:nvPicPr>
          <p:cNvPr descr="image.png" id="116" name="Google Shape;116;p1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62003" y="4697172"/>
            <a:ext cx="209550" cy="20955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4"/>
          <p:cNvSpPr txBox="1"/>
          <p:nvPr/>
        </p:nvSpPr>
        <p:spPr>
          <a:xfrm>
            <a:off x="5076325" y="2832427"/>
            <a:ext cx="24453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Métricas Porcentuales</a:t>
            </a:r>
            <a:endParaRPr sz="1600"/>
          </a:p>
        </p:txBody>
      </p:sp>
      <p:sp>
        <p:nvSpPr>
          <p:cNvPr id="118" name="Google Shape;118;p14"/>
          <p:cNvSpPr txBox="1"/>
          <p:nvPr/>
        </p:nvSpPr>
        <p:spPr>
          <a:xfrm>
            <a:off x="4857500" y="3284850"/>
            <a:ext cx="3093000" cy="7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799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37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Cálculo de participaciones provinciales           </a:t>
            </a:r>
            <a:r>
              <a:rPr lang="en-US" sz="1237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     </a:t>
            </a:r>
            <a:r>
              <a:rPr b="0" i="0" lang="en-US" sz="1237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                    </a:t>
            </a:r>
            <a:r>
              <a:rPr lang="en-US" sz="1237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y                           </a:t>
            </a:r>
            <a:r>
              <a:rPr b="0" i="0" lang="en-US" sz="1237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para eliminar el sesgo de escala y comparar variables en nivel relativo.</a:t>
            </a:r>
            <a:endParaRPr sz="1700"/>
          </a:p>
        </p:txBody>
      </p:sp>
      <p:pic>
        <p:nvPicPr>
          <p:cNvPr descr="image.png" id="119" name="Google Shape;119;p1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753000" y="4697177"/>
            <a:ext cx="209550" cy="20955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4"/>
          <p:cNvSpPr txBox="1"/>
          <p:nvPr/>
        </p:nvSpPr>
        <p:spPr>
          <a:xfrm>
            <a:off x="9087000" y="4705790"/>
            <a:ext cx="24453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Evaluación de Descalce</a:t>
            </a:r>
            <a:endParaRPr sz="1600"/>
          </a:p>
        </p:txBody>
      </p:sp>
      <p:sp>
        <p:nvSpPr>
          <p:cNvPr id="121" name="Google Shape;121;p14"/>
          <p:cNvSpPr txBox="1"/>
          <p:nvPr/>
        </p:nvSpPr>
        <p:spPr>
          <a:xfrm>
            <a:off x="8927298" y="5034588"/>
            <a:ext cx="2918400" cy="97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799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37" u="none" cap="none" strike="noStrike">
                <a:solidFill>
                  <a:schemeClr val="lt2"/>
                </a:solidFill>
                <a:latin typeface="Lato"/>
                <a:ea typeface="Lato"/>
                <a:cs typeface="Lato"/>
                <a:sym typeface="Lato"/>
              </a:rPr>
              <a:t>Construcción </a:t>
            </a:r>
            <a:r>
              <a:rPr lang="en-US" sz="1237">
                <a:solidFill>
                  <a:schemeClr val="lt2"/>
                </a:solidFill>
                <a:latin typeface="Lato"/>
                <a:ea typeface="Lato"/>
                <a:cs typeface="Lato"/>
                <a:sym typeface="Lato"/>
              </a:rPr>
              <a:t>de un gráfico de barras agrupadas (geom_col) que compara, para cada provincia, % de inversión RIGI frente al % de proveedores</a:t>
            </a:r>
            <a:r>
              <a:rPr b="0" i="0" lang="en-US" sz="1237" u="none" cap="none" strike="noStrike">
                <a:solidFill>
                  <a:schemeClr val="lt2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sz="1700">
              <a:solidFill>
                <a:schemeClr val="lt2"/>
              </a:solidFill>
            </a:endParaRPr>
          </a:p>
        </p:txBody>
      </p:sp>
      <p:pic>
        <p:nvPicPr>
          <p:cNvPr descr="image.png" id="122" name="Google Shape;122;p14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2958100" y="3540450"/>
            <a:ext cx="961693" cy="214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3" name="Google Shape;123;p14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2695875" y="3813525"/>
            <a:ext cx="800252" cy="200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4" name="Google Shape;124;p14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829549" y="5866050"/>
            <a:ext cx="1026331" cy="207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5" name="Google Shape;125;p14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3048947" y="5603151"/>
            <a:ext cx="895350" cy="20745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6" name="Google Shape;126;p14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7443175" y="3302351"/>
            <a:ext cx="507332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7" name="Google Shape;127;p14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4962550" y="3535300"/>
            <a:ext cx="723850" cy="21489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8" name="Google Shape;128;p14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8609598" y="2721902"/>
            <a:ext cx="209550" cy="234696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4"/>
          <p:cNvSpPr/>
          <p:nvPr/>
        </p:nvSpPr>
        <p:spPr>
          <a:xfrm flipH="1">
            <a:off x="437807" y="352425"/>
            <a:ext cx="45600" cy="36840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14"/>
          <p:cNvSpPr txBox="1"/>
          <p:nvPr/>
        </p:nvSpPr>
        <p:spPr>
          <a:xfrm>
            <a:off x="8427288" y="3027500"/>
            <a:ext cx="37647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chemeClr val="lt1"/>
                </a:solidFill>
              </a:rPr>
              <a:t>Fuente:</a:t>
            </a:r>
            <a:r>
              <a:rPr lang="en-US" sz="1100">
                <a:solidFill>
                  <a:schemeClr val="lt1"/>
                </a:solidFill>
              </a:rPr>
              <a:t> </a:t>
            </a:r>
            <a:r>
              <a:rPr i="1" lang="en-US" sz="1100">
                <a:solidFill>
                  <a:schemeClr val="lt1"/>
                </a:solidFill>
              </a:rPr>
              <a:t>Elaboración propia en base a datos de </a:t>
            </a:r>
            <a:r>
              <a:rPr i="1" lang="en-US" sz="1100">
                <a:solidFill>
                  <a:schemeClr val="lt1"/>
                </a:solidFill>
              </a:rPr>
              <a:t>Monitor de Proyectos RIGI por DESIP-IIEP)</a:t>
            </a:r>
            <a:endParaRPr i="1" sz="11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100">
                <a:solidFill>
                  <a:schemeClr val="lt1"/>
                </a:solidFill>
              </a:rPr>
              <a:t>y  el ministerio de </a:t>
            </a:r>
            <a:r>
              <a:rPr i="1" lang="en-US" sz="1100">
                <a:solidFill>
                  <a:schemeClr val="lt1"/>
                </a:solidFill>
              </a:rPr>
              <a:t>economía</a:t>
            </a:r>
            <a:r>
              <a:rPr i="1" lang="en-US" sz="1100">
                <a:solidFill>
                  <a:schemeClr val="lt1"/>
                </a:solidFill>
              </a:rPr>
              <a:t>  (Registro Nacional de Desarrollo de Proveedores - REDEPRO).</a:t>
            </a:r>
            <a:r>
              <a:rPr lang="en-US" sz="1100">
                <a:solidFill>
                  <a:schemeClr val="lt1"/>
                </a:solidFill>
              </a:rPr>
              <a:t> </a:t>
            </a:r>
            <a:endParaRPr>
              <a:solidFill>
                <a:schemeClr val="lt1"/>
              </a:solidFill>
            </a:endParaRPr>
          </a:p>
        </p:txBody>
      </p:sp>
      <p:pic>
        <p:nvPicPr>
          <p:cNvPr descr="image.png" id="131" name="Google Shape;131;p14"/>
          <p:cNvPicPr preferRelativeResize="0"/>
          <p:nvPr/>
        </p:nvPicPr>
        <p:blipFill rotWithShape="1">
          <a:blip r:embed="rId4">
            <a:alphaModFix amt="42000"/>
          </a:blip>
          <a:srcRect b="0" l="0" r="0" t="0"/>
          <a:stretch/>
        </p:blipFill>
        <p:spPr>
          <a:xfrm>
            <a:off x="8580988" y="4436825"/>
            <a:ext cx="3611000" cy="1770075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4"/>
          <p:cNvSpPr txBox="1"/>
          <p:nvPr/>
        </p:nvSpPr>
        <p:spPr>
          <a:xfrm>
            <a:off x="5076325" y="4705802"/>
            <a:ext cx="24453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Agregación de Datos</a:t>
            </a:r>
            <a:endParaRPr sz="1600"/>
          </a:p>
        </p:txBody>
      </p:sp>
      <p:sp>
        <p:nvSpPr>
          <p:cNvPr id="133" name="Google Shape;133;p14"/>
          <p:cNvSpPr txBox="1"/>
          <p:nvPr/>
        </p:nvSpPr>
        <p:spPr>
          <a:xfrm>
            <a:off x="4774325" y="5034600"/>
            <a:ext cx="2918400" cy="94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799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Group_by(provincia) + Summarize(): Agrupa el microdato (obras y firmas) para calcular los totales provinciales de inversión y proveedores.</a:t>
            </a:r>
            <a:r>
              <a:rPr lang="en-US" sz="1200">
                <a:solidFill>
                  <a:srgbClr val="94A3B8"/>
                </a:solidFill>
              </a:rPr>
              <a:t> </a:t>
            </a:r>
            <a:endParaRPr sz="1800">
              <a:solidFill>
                <a:srgbClr val="94A3B8"/>
              </a:solidFill>
            </a:endParaRPr>
          </a:p>
        </p:txBody>
      </p:sp>
      <p:pic>
        <p:nvPicPr>
          <p:cNvPr descr="image.png" id="134" name="Google Shape;134;p14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8813675" y="4711463"/>
            <a:ext cx="180975" cy="18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9" name="Google Shape;139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-38528"/>
            <a:ext cx="12192000" cy="6857996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15"/>
          <p:cNvSpPr txBox="1"/>
          <p:nvPr/>
        </p:nvSpPr>
        <p:spPr>
          <a:xfrm>
            <a:off x="496500" y="299875"/>
            <a:ext cx="10575900" cy="6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b="1" lang="en-US" sz="21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Análisis del Gráfico de Descalce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75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41" name="Google Shape;141;p15"/>
          <p:cNvSpPr txBox="1"/>
          <p:nvPr/>
        </p:nvSpPr>
        <p:spPr>
          <a:xfrm>
            <a:off x="6439800" y="1532775"/>
            <a:ext cx="4584900" cy="423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75">
              <a:solidFill>
                <a:srgbClr val="94A3B8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42" name="Google Shape;142;p15"/>
          <p:cNvSpPr/>
          <p:nvPr/>
        </p:nvSpPr>
        <p:spPr>
          <a:xfrm>
            <a:off x="448800" y="417000"/>
            <a:ext cx="47700" cy="29340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43" name="Google Shape;143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78785" y="1460599"/>
            <a:ext cx="5284439" cy="768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4" name="Google Shape;144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664523" y="1589723"/>
            <a:ext cx="123825" cy="1238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5" name="Google Shape;145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478785" y="2324100"/>
            <a:ext cx="5284439" cy="768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6" name="Google Shape;146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650235" y="2471737"/>
            <a:ext cx="142875" cy="1238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7" name="Google Shape;147;p1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478785" y="3187600"/>
            <a:ext cx="5284439" cy="768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8" name="Google Shape;148;p1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478785" y="4051101"/>
            <a:ext cx="5284439" cy="768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9" name="Google Shape;149;p15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6478785" y="4914602"/>
            <a:ext cx="5284439" cy="92853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0" name="Google Shape;150;p15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6650235" y="3335238"/>
            <a:ext cx="142875" cy="1238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1" name="Google Shape;151;p15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6650235" y="4198739"/>
            <a:ext cx="152400" cy="1238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2" name="Google Shape;152;p15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6650235" y="5062239"/>
            <a:ext cx="123825" cy="123825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15"/>
          <p:cNvSpPr txBox="1"/>
          <p:nvPr/>
        </p:nvSpPr>
        <p:spPr>
          <a:xfrm>
            <a:off x="6850260" y="5028902"/>
            <a:ext cx="5008500" cy="15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12" u="none" cap="none" strike="noStrike">
                <a:solidFill>
                  <a:srgbClr val="FBBF24"/>
                </a:solidFill>
                <a:latin typeface="Poppins"/>
                <a:ea typeface="Poppins"/>
                <a:cs typeface="Poppins"/>
                <a:sym typeface="Poppins"/>
              </a:rPr>
              <a:t>Conclusión de la Observación</a:t>
            </a:r>
            <a:endParaRPr/>
          </a:p>
        </p:txBody>
      </p:sp>
      <p:pic>
        <p:nvPicPr>
          <p:cNvPr id="154" name="Google Shape;154;p15" title="Captura de pantalla 2026-09-14 123656.png"/>
          <p:cNvPicPr preferRelativeResize="0"/>
          <p:nvPr/>
        </p:nvPicPr>
        <p:blipFill rotWithShape="1">
          <a:blip r:embed="rId14">
            <a:alphaModFix/>
          </a:blip>
          <a:srcRect b="0" l="0" r="0" t="1604"/>
          <a:stretch/>
        </p:blipFill>
        <p:spPr>
          <a:xfrm>
            <a:off x="280125" y="1390125"/>
            <a:ext cx="5881724" cy="4561525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15"/>
          <p:cNvSpPr txBox="1"/>
          <p:nvPr/>
        </p:nvSpPr>
        <p:spPr>
          <a:xfrm>
            <a:off x="6607752" y="1793681"/>
            <a:ext cx="5026500" cy="31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1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85" u="none" cap="none" strike="noStrike">
                <a:solidFill>
                  <a:srgbClr val="F8FAFC"/>
                </a:solidFill>
                <a:latin typeface="Lato"/>
                <a:ea typeface="Lato"/>
                <a:cs typeface="Lato"/>
                <a:sym typeface="Lato"/>
              </a:rPr>
              <a:t>Neuquén (~50%)</a:t>
            </a:r>
            <a:r>
              <a:rPr b="0" i="0" lang="en-US" sz="885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y </a:t>
            </a:r>
            <a:r>
              <a:rPr b="1" i="0" lang="en-US" sz="885" u="none" cap="none" strike="noStrike">
                <a:solidFill>
                  <a:srgbClr val="F8FAFC"/>
                </a:solidFill>
                <a:latin typeface="Lato"/>
                <a:ea typeface="Lato"/>
                <a:cs typeface="Lato"/>
                <a:sym typeface="Lato"/>
              </a:rPr>
              <a:t>Río Negro (~24%)</a:t>
            </a:r>
            <a:r>
              <a:rPr b="0" i="0" lang="en-US" sz="885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concentran casi el 75% de la demanda de inversión RIGI por Vaca Muerta y megaproyectos de GNL.</a:t>
            </a:r>
            <a:endParaRPr/>
          </a:p>
        </p:txBody>
      </p:sp>
      <p:sp>
        <p:nvSpPr>
          <p:cNvPr id="156" name="Google Shape;156;p15"/>
          <p:cNvSpPr txBox="1"/>
          <p:nvPr/>
        </p:nvSpPr>
        <p:spPr>
          <a:xfrm>
            <a:off x="6819277" y="1584843"/>
            <a:ext cx="5097600" cy="14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6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Concentración en Recursos (Demanda)</a:t>
            </a:r>
            <a:endParaRPr/>
          </a:p>
        </p:txBody>
      </p:sp>
      <p:sp>
        <p:nvSpPr>
          <p:cNvPr id="157" name="Google Shape;157;p15"/>
          <p:cNvSpPr txBox="1"/>
          <p:nvPr/>
        </p:nvSpPr>
        <p:spPr>
          <a:xfrm>
            <a:off x="6607761" y="2649335"/>
            <a:ext cx="50265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1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85" u="none" cap="none" strike="noStrike">
                <a:solidFill>
                  <a:srgbClr val="F8FAFC"/>
                </a:solidFill>
                <a:latin typeface="Lato"/>
                <a:ea typeface="Lato"/>
                <a:cs typeface="Lato"/>
                <a:sym typeface="Lato"/>
              </a:rPr>
              <a:t>Buenos Aires (~30%)</a:t>
            </a:r>
            <a:r>
              <a:rPr b="0" i="0" lang="en-US" sz="885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y </a:t>
            </a:r>
            <a:r>
              <a:rPr b="1" i="0" lang="en-US" sz="885" u="none" cap="none" strike="noStrike">
                <a:solidFill>
                  <a:srgbClr val="F8FAFC"/>
                </a:solidFill>
                <a:latin typeface="Lato"/>
                <a:ea typeface="Lato"/>
                <a:cs typeface="Lato"/>
                <a:sym typeface="Lato"/>
              </a:rPr>
              <a:t>Santa Fe (~10%)</a:t>
            </a:r>
            <a:r>
              <a:rPr b="0" i="0" lang="en-US" sz="885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contienen la mayor densidad de proveedores</a:t>
            </a:r>
            <a:r>
              <a:rPr lang="en-US" sz="885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b="0" i="0" lang="en-US" sz="885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, pero mínima inversión RIGI directa.</a:t>
            </a:r>
            <a:endParaRPr/>
          </a:p>
        </p:txBody>
      </p:sp>
      <p:sp>
        <p:nvSpPr>
          <p:cNvPr id="158" name="Google Shape;158;p15"/>
          <p:cNvSpPr txBox="1"/>
          <p:nvPr/>
        </p:nvSpPr>
        <p:spPr>
          <a:xfrm>
            <a:off x="6830602" y="2443372"/>
            <a:ext cx="5047800" cy="14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6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Concentración Industrial (Oferta)</a:t>
            </a:r>
            <a:endParaRPr/>
          </a:p>
        </p:txBody>
      </p:sp>
      <p:sp>
        <p:nvSpPr>
          <p:cNvPr id="159" name="Google Shape;159;p15"/>
          <p:cNvSpPr txBox="1"/>
          <p:nvPr/>
        </p:nvSpPr>
        <p:spPr>
          <a:xfrm>
            <a:off x="6844177" y="3306887"/>
            <a:ext cx="5047800" cy="14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6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Polos de Soporte Intermedio</a:t>
            </a:r>
            <a:endParaRPr/>
          </a:p>
        </p:txBody>
      </p:sp>
      <p:sp>
        <p:nvSpPr>
          <p:cNvPr id="160" name="Google Shape;160;p15"/>
          <p:cNvSpPr txBox="1"/>
          <p:nvPr/>
        </p:nvSpPr>
        <p:spPr>
          <a:xfrm>
            <a:off x="6607752" y="3487600"/>
            <a:ext cx="5026500" cy="31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1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85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Provincias como </a:t>
            </a:r>
            <a:r>
              <a:rPr b="1" i="0" lang="en-US" sz="885" u="none" cap="none" strike="noStrike">
                <a:solidFill>
                  <a:srgbClr val="F8FAFC"/>
                </a:solidFill>
                <a:latin typeface="Lato"/>
                <a:ea typeface="Lato"/>
                <a:cs typeface="Lato"/>
                <a:sym typeface="Lato"/>
              </a:rPr>
              <a:t>Córdoba</a:t>
            </a:r>
            <a:r>
              <a:rPr b="0" i="0" lang="en-US" sz="885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y </a:t>
            </a:r>
            <a:r>
              <a:rPr b="1" i="0" lang="en-US" sz="885" u="none" cap="none" strike="noStrike">
                <a:solidFill>
                  <a:srgbClr val="F8FAFC"/>
                </a:solidFill>
                <a:latin typeface="Lato"/>
                <a:ea typeface="Lato"/>
                <a:cs typeface="Lato"/>
                <a:sym typeface="Lato"/>
              </a:rPr>
              <a:t>Mendoza</a:t>
            </a:r>
            <a:r>
              <a:rPr b="0" i="0" lang="en-US" sz="885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actúan como centros industriales mixtos con capacidad de provisión metalmecánica y servicios técnicos.</a:t>
            </a:r>
            <a:endParaRPr/>
          </a:p>
        </p:txBody>
      </p:sp>
      <p:sp>
        <p:nvSpPr>
          <p:cNvPr id="161" name="Google Shape;161;p15"/>
          <p:cNvSpPr txBox="1"/>
          <p:nvPr/>
        </p:nvSpPr>
        <p:spPr>
          <a:xfrm>
            <a:off x="6622027" y="4351103"/>
            <a:ext cx="5026500" cy="31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1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85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Provincias receptoras masivas como </a:t>
            </a:r>
            <a:r>
              <a:rPr b="1" i="0" lang="en-US" sz="885" u="none" cap="none" strike="noStrike">
                <a:solidFill>
                  <a:srgbClr val="F8FAFC"/>
                </a:solidFill>
                <a:latin typeface="Lato"/>
                <a:ea typeface="Lato"/>
                <a:cs typeface="Lato"/>
                <a:sym typeface="Lato"/>
              </a:rPr>
              <a:t>Neuquén (~5%)</a:t>
            </a:r>
            <a:r>
              <a:rPr b="0" i="0" lang="en-US" sz="885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y </a:t>
            </a:r>
            <a:r>
              <a:rPr b="1" i="0" lang="en-US" sz="885" u="none" cap="none" strike="noStrike">
                <a:solidFill>
                  <a:srgbClr val="F8FAFC"/>
                </a:solidFill>
                <a:latin typeface="Lato"/>
                <a:ea typeface="Lato"/>
                <a:cs typeface="Lato"/>
                <a:sym typeface="Lato"/>
              </a:rPr>
              <a:t>Río Negro (~1%)</a:t>
            </a:r>
            <a:r>
              <a:rPr b="0" i="0" lang="en-US" sz="885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exhiben una baja oferta local registrada para absorber la demanda directa.</a:t>
            </a:r>
            <a:endParaRPr/>
          </a:p>
        </p:txBody>
      </p:sp>
      <p:sp>
        <p:nvSpPr>
          <p:cNvPr id="162" name="Google Shape;162;p15"/>
          <p:cNvSpPr txBox="1"/>
          <p:nvPr/>
        </p:nvSpPr>
        <p:spPr>
          <a:xfrm>
            <a:off x="6844177" y="4167878"/>
            <a:ext cx="5047800" cy="14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6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Brecha de Proveedores Locales</a:t>
            </a:r>
            <a:endParaRPr/>
          </a:p>
        </p:txBody>
      </p:sp>
      <p:sp>
        <p:nvSpPr>
          <p:cNvPr id="163" name="Google Shape;163;p15"/>
          <p:cNvSpPr txBox="1"/>
          <p:nvPr/>
        </p:nvSpPr>
        <p:spPr>
          <a:xfrm>
            <a:off x="6622027" y="5274519"/>
            <a:ext cx="5026500" cy="49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1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85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Existe un </a:t>
            </a:r>
            <a:r>
              <a:rPr b="1" i="0" lang="en-US" sz="885" u="none" cap="none" strike="noStrike">
                <a:solidFill>
                  <a:srgbClr val="F8FAFC"/>
                </a:solidFill>
                <a:latin typeface="Lato"/>
                <a:ea typeface="Lato"/>
                <a:cs typeface="Lato"/>
                <a:sym typeface="Lato"/>
              </a:rPr>
              <a:t>descalce territorial estructural</a:t>
            </a:r>
            <a:r>
              <a:rPr b="0" i="0" lang="en-US" sz="885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: los grandes proyectos residen en la Patagonia/Cuyo, mientras que los proveedores están en la Región Pampeana. E</a:t>
            </a:r>
            <a:r>
              <a:rPr lang="en-US" sz="885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s decir, Las provincias receptoras enfrentarán un cuello de botella para abastecer localmente los megaproyectos </a:t>
            </a:r>
            <a:endParaRPr sz="885">
              <a:solidFill>
                <a:srgbClr val="CBD5E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